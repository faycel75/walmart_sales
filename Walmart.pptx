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7d7b65e2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7d7b65e2a_4_0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7d7b65e2a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a7d7b65e2a_4_9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7d7b65e2a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a7d7b65e2a_4_15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7d7b65e2a_4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a7d7b65e2a_4_21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7d7b65e2a_4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a7d7b65e2a_4_27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7d7b65e2a_4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a7d7b65e2a_4_33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7d7b65e2a_4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a7d7b65e2a_4_39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514479" y="1597819"/>
            <a:ext cx="583075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028957" y="2914650"/>
            <a:ext cx="4801801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541870" y="3305175"/>
            <a:ext cx="583075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541870" y="2180035"/>
            <a:ext cx="5830759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42986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3487022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42986" y="1151335"/>
            <a:ext cx="3030899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342986" y="1631156"/>
            <a:ext cx="3030899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3484640" y="1151335"/>
            <a:ext cx="3032090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3484640" y="1631156"/>
            <a:ext cx="3032090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86" y="204788"/>
            <a:ext cx="2256799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958" y="204788"/>
            <a:ext cx="3834772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86" y="1076325"/>
            <a:ext cx="225679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552" y="3600450"/>
            <a:ext cx="411583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552" y="459581"/>
            <a:ext cx="411583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552" y="4025503"/>
            <a:ext cx="411583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2622" y="-189486"/>
            <a:ext cx="3394472" cy="61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50690" y="1628582"/>
            <a:ext cx="4388644" cy="1543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654" y="142311"/>
            <a:ext cx="4388644" cy="45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gradFill>
            <a:gsLst>
              <a:gs pos="0">
                <a:srgbClr val="A100FF"/>
              </a:gs>
              <a:gs pos="100000">
                <a:srgbClr val="00C8FF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685972" y="1714500"/>
            <a:ext cx="685971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Walmart Weekly Sales Prediction</a:t>
            </a:r>
            <a:endParaRPr sz="1100"/>
          </a:p>
        </p:txBody>
      </p:sp>
      <p:sp>
        <p:nvSpPr>
          <p:cNvPr id="131" name="Google Shape;131;p25"/>
          <p:cNvSpPr txBox="1"/>
          <p:nvPr/>
        </p:nvSpPr>
        <p:spPr>
          <a:xfrm>
            <a:off x="685972" y="2400300"/>
            <a:ext cx="6859800" cy="20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Comprendre les facteurs qui influencent les ventes hebdomadaires.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Construire un modèle ML fiable pour le marketing.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Utiliser un pipeline propre : preprocessing → modèles → interprétation.</a:t>
            </a:r>
            <a:endParaRPr sz="2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éléchargement.jfif" id="132" name="Google Shape;1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86" y="34290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 (3).png" id="133" name="Google Shape;13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5688" y="342900"/>
            <a:ext cx="822960" cy="82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fr" sz="1100">
                <a:solidFill>
                  <a:srgbClr val="FFFFFF"/>
                </a:solidFill>
              </a:rPr>
              <a:t>Contexte &amp; Objectifs</a:t>
            </a:r>
            <a:endParaRPr sz="1100"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Comprendre les facteurs qui influencent les ventes hebdomadaires.</a:t>
            </a:r>
            <a:endParaRPr sz="1100"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Construire un modèle ML fiable.</a:t>
            </a:r>
            <a:endParaRPr sz="1100"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Pipeline complet : preprocessing → modèles → interprétation.</a:t>
            </a:r>
            <a:endParaRPr sz="1100"/>
          </a:p>
        </p:txBody>
      </p:sp>
      <p:sp>
        <p:nvSpPr>
          <p:cNvPr id="140" name="Google Shape;140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A100FF"/>
              </a:gs>
              <a:gs pos="100000">
                <a:srgbClr val="00C8FF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éléchargement.jfif" id="141" name="Google Shape;1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86" y="34290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 (3).png" id="142" name="Google Shape;14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5688" y="3429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 txBox="1"/>
          <p:nvPr>
            <p:ph type="title"/>
          </p:nvPr>
        </p:nvSpPr>
        <p:spPr>
          <a:xfrm>
            <a:off x="1075236" y="325679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fr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&amp; EDA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43011" y="1535400"/>
            <a:ext cx="61737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Variables : Store, Date, Holiday_Flag, Temperature, Fuel_Price, CPI, Unemployment.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Extraction des features temporelles.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Analyse des ventes et des relations avec les variables économiques.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fr" sz="1100">
                <a:solidFill>
                  <a:srgbClr val="FFFFFF"/>
                </a:solidFill>
              </a:rPr>
              <a:t>Dataset &amp; EDA</a:t>
            </a:r>
            <a:endParaRPr sz="1100"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Variables : Store, Date, Holiday_Flag, Temperature...</a:t>
            </a:r>
            <a:endParaRPr sz="1100"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Extraction des features temporelles.</a:t>
            </a:r>
            <a:endParaRPr sz="1100"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Analyse des ventes &amp; relations.</a:t>
            </a:r>
            <a:endParaRPr sz="1100"/>
          </a:p>
        </p:txBody>
      </p:sp>
      <p:sp>
        <p:nvSpPr>
          <p:cNvPr id="151" name="Google Shape;151;p27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gradFill>
            <a:gsLst>
              <a:gs pos="0">
                <a:srgbClr val="A100FF"/>
              </a:gs>
              <a:gs pos="100000">
                <a:srgbClr val="00C8FF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éléchargement.jfif" id="152" name="Google Shape;15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86" y="34290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 (3).png" id="153" name="Google Shape;15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5688" y="3429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>
            <p:ph type="title"/>
          </p:nvPr>
        </p:nvSpPr>
        <p:spPr>
          <a:xfrm>
            <a:off x="1165961" y="325679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fr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Méthodologie Machine Learning</a:t>
            </a:r>
            <a:endParaRPr/>
          </a:p>
        </p:txBody>
      </p:sp>
      <p:sp>
        <p:nvSpPr>
          <p:cNvPr id="155" name="Google Shape;155;p27"/>
          <p:cNvSpPr txBox="1"/>
          <p:nvPr/>
        </p:nvSpPr>
        <p:spPr>
          <a:xfrm>
            <a:off x="431211" y="1482475"/>
            <a:ext cx="61737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Suppression NA + gestion outliers (3σ).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Encodage catégoriel (OneHotEncoder).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Standardisation variables numériques.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Train/Test split (80/20).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fr" sz="1100">
                <a:solidFill>
                  <a:srgbClr val="FFFFFF"/>
                </a:solidFill>
              </a:rPr>
              <a:t>Méthodologie ML</a:t>
            </a:r>
            <a:endParaRPr sz="1100"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Suppression NA + gestion outliers.</a:t>
            </a:r>
            <a:endParaRPr sz="1100"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Encodage catégoriel &amp; standardisation.</a:t>
            </a:r>
            <a:endParaRPr sz="1100"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Train/Test (80/20).</a:t>
            </a:r>
            <a:endParaRPr sz="1100"/>
          </a:p>
        </p:txBody>
      </p:sp>
      <p:sp>
        <p:nvSpPr>
          <p:cNvPr id="162" name="Google Shape;162;p28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gradFill>
            <a:gsLst>
              <a:gs pos="0">
                <a:srgbClr val="A100FF"/>
              </a:gs>
              <a:gs pos="100000">
                <a:srgbClr val="00C8FF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éléchargement.jfif" id="163" name="Google Shape;16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86" y="34290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 (3).png" id="164" name="Google Shape;16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5688" y="3429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8"/>
          <p:cNvSpPr txBox="1"/>
          <p:nvPr/>
        </p:nvSpPr>
        <p:spPr>
          <a:xfrm>
            <a:off x="1485161" y="205903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Modèles Testés</a:t>
            </a:r>
            <a:endParaRPr sz="3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343011" y="1535425"/>
            <a:ext cx="61737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Régression linéaire (baseline).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Ridge (alpha fixe).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GridSearchCV → alpha optimal = 0.01.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fr" sz="1100">
                <a:solidFill>
                  <a:srgbClr val="FFFFFF"/>
                </a:solidFill>
              </a:rPr>
              <a:t>Modèles Testés</a:t>
            </a:r>
            <a:endParaRPr sz="1100"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LinearRegression.</a:t>
            </a:r>
            <a:endParaRPr sz="1100"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Ridge alpha fixe.</a:t>
            </a:r>
            <a:endParaRPr sz="1100"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GridSearchCV → alpha optimal = 0.01.</a:t>
            </a:r>
            <a:endParaRPr sz="1100"/>
          </a:p>
        </p:txBody>
      </p:sp>
      <p:sp>
        <p:nvSpPr>
          <p:cNvPr id="173" name="Google Shape;173;p29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gradFill>
            <a:gsLst>
              <a:gs pos="0">
                <a:srgbClr val="A100FF"/>
              </a:gs>
              <a:gs pos="100000">
                <a:srgbClr val="00C8FF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éléchargement.jfif" id="174" name="Google Shape;17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86" y="34290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 (3).png" id="175" name="Google Shape;17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5688" y="3429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9"/>
          <p:cNvSpPr txBox="1"/>
          <p:nvPr/>
        </p:nvSpPr>
        <p:spPr>
          <a:xfrm>
            <a:off x="1165961" y="325679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Performances du Modèle</a:t>
            </a:r>
            <a:endParaRPr sz="3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343011" y="1429525"/>
            <a:ext cx="61737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LinearRegression : R² test = 0.947 – RMSE = 132 277.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Ridge alpha 1.0 : R² test = 0.871 – RMSE = 206 402.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**Ridge alpha 0.01 : R² test = 0.955 – RMSE = 121 026 (meilleur modèle).**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fr" sz="1100">
                <a:solidFill>
                  <a:srgbClr val="FFFFFF"/>
                </a:solidFill>
              </a:rPr>
              <a:t>Performances du Modèle</a:t>
            </a:r>
            <a:endParaRPr sz="1100"/>
          </a:p>
        </p:txBody>
      </p:sp>
      <p:sp>
        <p:nvSpPr>
          <p:cNvPr id="183" name="Google Shape;183;p30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LinearRegression : R² test = 0.947 – RMSE = 132 277.</a:t>
            </a:r>
            <a:endParaRPr sz="1100"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Ridge(1.0) : R² test = 0.871 – RMSE = 206 402.</a:t>
            </a:r>
            <a:endParaRPr sz="1100"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Ridge(0.01) : R² test = 0.955 – RMSE = 121 026.</a:t>
            </a:r>
            <a:endParaRPr sz="1100"/>
          </a:p>
        </p:txBody>
      </p:sp>
      <p:sp>
        <p:nvSpPr>
          <p:cNvPr id="184" name="Google Shape;184;p30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gradFill>
            <a:gsLst>
              <a:gs pos="0">
                <a:srgbClr val="A100FF"/>
              </a:gs>
              <a:gs pos="100000">
                <a:srgbClr val="00C8FF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éléchargement.jfif" id="185" name="Google Shape;18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86" y="34290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 (3).png" id="186" name="Google Shape;18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5688" y="3429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/>
          <p:nvPr/>
        </p:nvSpPr>
        <p:spPr>
          <a:xfrm>
            <a:off x="1066436" y="325679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Variables Importantes</a:t>
            </a:r>
            <a:endParaRPr sz="3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0"/>
          <p:cNvSpPr txBox="1"/>
          <p:nvPr/>
        </p:nvSpPr>
        <p:spPr>
          <a:xfrm>
            <a:off x="343011" y="1535425"/>
            <a:ext cx="61737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Store_xx : différences structurelles fortes.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Month, DayOfWeek : saisonnalité.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Holiday_Flag : impact des périodes commerciales.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Effet plus faible mais réel des variables économiques.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fr" sz="1100">
                <a:solidFill>
                  <a:srgbClr val="FFFFFF"/>
                </a:solidFill>
              </a:rPr>
              <a:t>Variables Importantes</a:t>
            </a:r>
            <a:endParaRPr sz="1100"/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Store_xx : différences fortes.</a:t>
            </a:r>
            <a:endParaRPr sz="1100"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Month, DayOfWeek : saisonnalité.</a:t>
            </a:r>
            <a:endParaRPr sz="1100"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Holiday_Flag : impact commercial.</a:t>
            </a:r>
            <a:endParaRPr sz="1100"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fr" sz="1100">
                <a:solidFill>
                  <a:srgbClr val="FFFFFF"/>
                </a:solidFill>
              </a:rPr>
              <a:t>• Variables économiques → effet modéré.</a:t>
            </a:r>
            <a:endParaRPr sz="1100"/>
          </a:p>
        </p:txBody>
      </p:sp>
      <p:sp>
        <p:nvSpPr>
          <p:cNvPr id="195" name="Google Shape;195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A100FF"/>
              </a:gs>
              <a:gs pos="100000">
                <a:srgbClr val="00C8FF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éléchargement.jfif" id="196" name="Google Shape;19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86" y="34290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 (3).png" id="197" name="Google Shape;19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5688" y="3429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1"/>
          <p:cNvSpPr txBox="1"/>
          <p:nvPr/>
        </p:nvSpPr>
        <p:spPr>
          <a:xfrm>
            <a:off x="1268986" y="325679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Limitations &amp; Recommandations</a:t>
            </a:r>
            <a:endParaRPr sz="3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1"/>
          <p:cNvSpPr txBox="1"/>
          <p:nvPr/>
        </p:nvSpPr>
        <p:spPr>
          <a:xfrm>
            <a:off x="343011" y="1394250"/>
            <a:ext cx="61737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Modèle linéaire → interactions non capturées.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Outliers gérés simplement → pertes possibles.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Prochaines étapes : XGBoost, RandomForest, features avancées.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Déploiement API ou dashboard marketing.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